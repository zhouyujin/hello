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0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288000"/>
            <a:ext cx="7200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34A"/>
                </a:solidFill>
              </a:defRPr>
            </a:pPr>
            <a:r>
              <a:t>工作亮点：全链路评测体系构建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737999"/>
            <a:ext cx="720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E6A9B"/>
                </a:solidFill>
              </a:defRPr>
            </a:pPr>
            <a:r>
              <a:t>从文本到多模态、从基准集成到榜单生产，形成可复用、可扩展、可服务化的评测能力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1152000"/>
            <a:ext cx="4968000" cy="489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FE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" y="1296000"/>
            <a:ext cx="460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B3D91"/>
                </a:solidFill>
              </a:defRPr>
            </a:pPr>
            <a:r>
              <a:t>全链路交付内容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1655999"/>
            <a:ext cx="4608000" cy="42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0C234A"/>
                </a:solidFill>
              </a:defRPr>
            </a:pPr>
            <a:r>
              <a:t>高效集成：12项科学推理、4项数学、3项长文本、1项指令遵循评测基准（统一口径 + 标准流程）</a:t>
            </a:r>
          </a:p>
          <a:p>
            <a:pPr>
              <a:spcAft>
                <a:spcPts val="600"/>
              </a:spcAft>
              <a:defRPr sz="1250">
                <a:solidFill>
                  <a:srgbClr val="0C234A"/>
                </a:solidFill>
              </a:defRPr>
            </a:pPr>
            <a:r>
              <a:t>效率优化：科学推理评测周期 7天 压缩至 30小时；多类型榜单评测从 ≥4人协作 降至 单人完成</a:t>
            </a:r>
          </a:p>
          <a:p>
            <a:pPr>
              <a:spcAft>
                <a:spcPts val="600"/>
              </a:spcAft>
              <a:defRPr sz="1250">
                <a:solidFill>
                  <a:srgbClr val="0C234A"/>
                </a:solidFill>
              </a:defRPr>
            </a:pPr>
            <a:r>
              <a:t>多模态从0到1：搭建统一评测框架，开发13个多模态榜单并实现流程标准化</a:t>
            </a:r>
          </a:p>
          <a:p>
            <a:pPr>
              <a:spcAft>
                <a:spcPts val="600"/>
              </a:spcAft>
              <a:defRPr sz="1250">
                <a:solidFill>
                  <a:srgbClr val="0C234A"/>
                </a:solidFill>
              </a:defRPr>
            </a:pPr>
            <a:r>
              <a:t>能力沉淀：覆盖文本到多模态、基础到强化训练模型，为模型迭代提供核心数据支撑；为评测服务化/部署轻量化打基础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16000" y="1152000"/>
            <a:ext cx="3060000" cy="144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FE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16000" y="1152000"/>
            <a:ext cx="79200" cy="1440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96000" y="1260000"/>
            <a:ext cx="2772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234A"/>
                </a:solidFill>
              </a:defRPr>
            </a:pPr>
            <a:r>
              <a:t>科学推理评测周期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96000" y="1584000"/>
            <a:ext cx="2700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4E6A9B"/>
                </a:solidFill>
              </a:rPr>
              <a:t>7天</a:t>
            </a:r>
            <a:r>
              <a:rPr sz="1800" b="1">
                <a:solidFill>
                  <a:srgbClr val="1E88E5"/>
                </a:solidFill>
              </a:rPr>
              <a:t>  →  </a:t>
            </a:r>
            <a:r>
              <a:rPr sz="2200" b="1">
                <a:solidFill>
                  <a:srgbClr val="0B3D91"/>
                </a:solidFill>
              </a:rPr>
              <a:t>30小时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96000" y="2088000"/>
            <a:ext cx="27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E6A9B"/>
                </a:solidFill>
              </a:defRPr>
            </a:pPr>
            <a:r>
              <a:t>效率提升约 82%（统一口径 + 流程优化）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84000" y="1152000"/>
            <a:ext cx="2951999" cy="144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FE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84000" y="1152000"/>
            <a:ext cx="79200" cy="1440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4000" y="1260000"/>
            <a:ext cx="266399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234A"/>
                </a:solidFill>
              </a:defRPr>
            </a:pPr>
            <a:r>
              <a:t>多类型榜单协作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4000" y="1584000"/>
            <a:ext cx="2591999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4E6A9B"/>
                </a:solidFill>
              </a:rPr>
              <a:t>≥4人</a:t>
            </a:r>
            <a:r>
              <a:rPr sz="1800" b="1">
                <a:solidFill>
                  <a:srgbClr val="1E88E5"/>
                </a:solidFill>
              </a:rPr>
              <a:t>  →  </a:t>
            </a:r>
            <a:r>
              <a:rPr sz="2200" b="1">
                <a:solidFill>
                  <a:srgbClr val="0B3D91"/>
                </a:solidFill>
              </a:rPr>
              <a:t>1人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4000" y="2088000"/>
            <a:ext cx="2591999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E6A9B"/>
                </a:solidFill>
              </a:defRPr>
            </a:pPr>
            <a:r>
              <a:t>人力成本降低约 75%（标准化生产）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16000" y="2700000"/>
            <a:ext cx="6120000" cy="133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FE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16000" y="2700000"/>
            <a:ext cx="79200" cy="1332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96000" y="2808000"/>
            <a:ext cx="5832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234A"/>
                </a:solidFill>
              </a:defRPr>
            </a:pPr>
            <a:r>
              <a:t>多模态评测体系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96000" y="3132000"/>
            <a:ext cx="5760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4E6A9B"/>
                </a:solidFill>
              </a:rPr>
              <a:t>0 → 1</a:t>
            </a:r>
            <a:r>
              <a:rPr sz="1800" b="1">
                <a:solidFill>
                  <a:srgbClr val="1E88E5"/>
                </a:solidFill>
              </a:rPr>
              <a:t>  →  </a:t>
            </a:r>
            <a:r>
              <a:rPr sz="2200" b="1">
                <a:solidFill>
                  <a:srgbClr val="0B3D91"/>
                </a:solidFill>
              </a:rPr>
              <a:t>13个榜单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96000" y="3636000"/>
            <a:ext cx="576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E6A9B"/>
                </a:solidFill>
              </a:defRPr>
            </a:pPr>
            <a:r>
              <a:t>统一框架适配，多任务模板化，结果可追溯，支撑服务化演进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16000" y="3942000"/>
            <a:ext cx="297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E6A9B"/>
                </a:solidFill>
              </a:defRPr>
            </a:pPr>
            <a:r>
              <a:t>插图 1：分散式 → 一体化流程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66000" y="3942000"/>
            <a:ext cx="297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E6A9B"/>
                </a:solidFill>
              </a:defRPr>
            </a:pPr>
            <a:r>
              <a:t>插图 2：多模态统一框架能力版图</a:t>
            </a:r>
          </a:p>
        </p:txBody>
      </p:sp>
      <p:pic>
        <p:nvPicPr>
          <p:cNvPr id="26" name="Picture 25" descr="flow_distributed_to_integ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6000" y="4140000"/>
            <a:ext cx="2970000" cy="1670625"/>
          </a:xfrm>
          <a:prstGeom prst="rect">
            <a:avLst/>
          </a:prstGeom>
        </p:spPr>
      </p:pic>
      <p:pic>
        <p:nvPicPr>
          <p:cNvPr id="27" name="Picture 26" descr="multimodal_framework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6000" y="4140000"/>
            <a:ext cx="2970000" cy="167062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616000" y="6642000"/>
            <a:ext cx="612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4E6A9B"/>
                </a:solidFill>
              </a:defRPr>
            </a:pPr>
            <a:r>
              <a:t>插图为生成素材（SVG源文件在 assets/ 中，可替换/二次编辑）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