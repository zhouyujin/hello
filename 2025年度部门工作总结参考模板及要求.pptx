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0" r:id="rId2"/>
    <p:sldId id="261" r:id="rId3"/>
  </p:sldIdLst>
  <p:sldSz cx="12192000" cy="6858000"/>
  <p:notesSz cx="7104063" cy="10234613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3EF"/>
    <a:srgbClr val="0B42DF"/>
    <a:srgbClr val="0B40D3"/>
    <a:srgbClr val="0C3ACF"/>
    <a:srgbClr val="0C3BD1"/>
    <a:srgbClr val="0052FF"/>
    <a:srgbClr val="F5F8FF"/>
    <a:srgbClr val="0D36CC"/>
    <a:srgbClr val="294FCF"/>
    <a:srgbClr val="006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95" d="100"/>
          <a:sy n="95" d="100"/>
        </p:scale>
        <p:origin x="330" y="90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triswang/Desktop/2025ppt封面.png2025ppt封面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l="5" r="5"/>
          <a:stretch>
            <a:fillRect/>
          </a:stretch>
        </p:blipFill>
        <p:spPr>
          <a:xfrm>
            <a:off x="0" y="0"/>
            <a:ext cx="12193200" cy="68608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r="74229"/>
          <a:stretch>
            <a:fillRect/>
          </a:stretch>
        </p:blipFill>
        <p:spPr>
          <a:xfrm>
            <a:off x="0" y="0"/>
            <a:ext cx="314198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 t="96231"/>
          <a:stretch>
            <a:fillRect/>
          </a:stretch>
        </p:blipFill>
        <p:spPr>
          <a:xfrm>
            <a:off x="0" y="6599555"/>
            <a:ext cx="12192000" cy="25844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60045" y="178435"/>
            <a:ext cx="10839450" cy="490855"/>
          </a:xfrm>
        </p:spPr>
        <p:txBody>
          <a:bodyPr vert="horz" wrap="square" lIns="91440" tIns="45720" rIns="91440" bIns="45720" rtlCol="0" anchor="ctr" anchorCtr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3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思源黑体 CN Bold" panose="020B0A00000000000000" charset="-122"/>
                <a:ea typeface="思源黑体 CN Bold" panose="020B0A00000000000000" charset="-122"/>
                <a:cs typeface="+mj-cs"/>
              </a:defRPr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5" name="矩形 4"/>
          <p:cNvSpPr/>
          <p:nvPr userDrawn="1">
            <p:custDataLst>
              <p:tags r:id="rId3"/>
            </p:custDataLst>
          </p:nvPr>
        </p:nvSpPr>
        <p:spPr>
          <a:xfrm>
            <a:off x="144000" y="251143"/>
            <a:ext cx="75565" cy="317500"/>
          </a:xfrm>
          <a:prstGeom prst="rect">
            <a:avLst/>
          </a:prstGeom>
          <a:solidFill>
            <a:srgbClr val="0743E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 t="96231"/>
          <a:stretch>
            <a:fillRect/>
          </a:stretch>
        </p:blipFill>
        <p:spPr>
          <a:xfrm>
            <a:off x="0" y="6599555"/>
            <a:ext cx="12192000" cy="25844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>
            <p:custDataLst>
              <p:tags r:id="rId2"/>
            </p:custDataLst>
          </p:nvPr>
        </p:nvSpPr>
        <p:spPr>
          <a:xfrm>
            <a:off x="8197215" y="6583045"/>
            <a:ext cx="370967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lang="en-US" altLang="zh-CN" sz="1000" spc="150">
                <a:solidFill>
                  <a:schemeClr val="bg1"/>
                </a:solidFill>
                <a:uFillTx/>
                <a:latin typeface="Source Han Sans CN" panose="020B0A00000000000000" charset="-122"/>
                <a:ea typeface="Source Han Sans CN" panose="020B0A00000000000000" charset="-122"/>
                <a:cs typeface="思源黑体 CN Bold" panose="020B0A00000000000000" charset="-122"/>
                <a:sym typeface="+mn-ea"/>
              </a:rPr>
              <a:t>中国科学院孵化的人工智能企业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8.xml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-281940" y="770890"/>
            <a:ext cx="193040" cy="193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202020">
                  <a:lumMod val="90000"/>
                  <a:lumOff val="10000"/>
                </a:srgb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矩形 4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>
            <a:off x="-281940" y="1047750"/>
            <a:ext cx="193040" cy="193040"/>
          </a:xfrm>
          <a:prstGeom prst="rect">
            <a:avLst/>
          </a:prstGeom>
          <a:solidFill>
            <a:srgbClr val="0743EF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矩形 5"/>
          <p:cNvSpPr>
            <a:spLocks noChangeAspect="1"/>
          </p:cNvSpPr>
          <p:nvPr userDrawn="1">
            <p:custDataLst>
              <p:tags r:id="rId11"/>
            </p:custDataLst>
          </p:nvPr>
        </p:nvSpPr>
        <p:spPr>
          <a:xfrm>
            <a:off x="-281940" y="1324610"/>
            <a:ext cx="193040" cy="193040"/>
          </a:xfrm>
          <a:prstGeom prst="rect">
            <a:avLst/>
          </a:prstGeom>
          <a:solidFill>
            <a:srgbClr val="F27500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矩形 6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>
            <a:off x="-281940" y="1601470"/>
            <a:ext cx="193040" cy="193040"/>
          </a:xfrm>
          <a:prstGeom prst="rect">
            <a:avLst/>
          </a:prstGeom>
          <a:solidFill>
            <a:srgbClr val="00AAFF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 userDrawn="1">
            <p:custDataLst>
              <p:tags r:id="rId13"/>
            </p:custDataLst>
          </p:nvPr>
        </p:nvSpPr>
        <p:spPr>
          <a:xfrm>
            <a:off x="-281940" y="1878330"/>
            <a:ext cx="193040" cy="193040"/>
          </a:xfrm>
          <a:prstGeom prst="rect">
            <a:avLst/>
          </a:prstGeom>
          <a:solidFill>
            <a:srgbClr val="FFC000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66E9F5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0" name="矩形 9"/>
          <p:cNvSpPr>
            <a:spLocks noChangeAspect="1"/>
          </p:cNvSpPr>
          <p:nvPr userDrawn="1">
            <p:custDataLst>
              <p:tags r:id="rId14"/>
            </p:custDataLst>
          </p:nvPr>
        </p:nvSpPr>
        <p:spPr>
          <a:xfrm>
            <a:off x="-281940" y="2155190"/>
            <a:ext cx="193040" cy="193040"/>
          </a:xfrm>
          <a:prstGeom prst="rect">
            <a:avLst/>
          </a:prstGeom>
          <a:solidFill>
            <a:srgbClr val="73CE54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66E9F5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15"/>
            </p:custDataLst>
          </p:nvPr>
        </p:nvSpPr>
        <p:spPr>
          <a:xfrm>
            <a:off x="-281940" y="2432050"/>
            <a:ext cx="193040" cy="193040"/>
          </a:xfrm>
          <a:prstGeom prst="rect">
            <a:avLst/>
          </a:prstGeom>
          <a:solidFill>
            <a:srgbClr val="E7E6E6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E7E6E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271032" y="194575"/>
            <a:ext cx="881189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Font typeface="Arial" panose="020B0604020202090204" pitchFamily="34" charset="0"/>
              <a:buNone/>
            </a:pPr>
            <a:r>
              <a:rPr lang="en-US" altLang="zh-CN" sz="3000" b="1" dirty="0">
                <a:solidFill>
                  <a:srgbClr val="065DD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01 </a:t>
            </a:r>
            <a:r>
              <a:rPr lang="zh-CN" altLang="en-US" sz="3000" b="1" dirty="0">
                <a:solidFill>
                  <a:srgbClr val="065DD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202</a:t>
            </a:r>
            <a:r>
              <a:rPr lang="en-US" altLang="zh-CN" sz="3000" b="1" dirty="0">
                <a:solidFill>
                  <a:srgbClr val="065DD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5</a:t>
            </a:r>
            <a:r>
              <a:rPr lang="zh-CN" altLang="en-US" sz="3000" b="1" dirty="0">
                <a:solidFill>
                  <a:srgbClr val="065DD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年度工作完成情况复盘</a:t>
            </a:r>
            <a:endParaRPr lang="en-US" altLang="zh-CN" sz="3000" b="1" dirty="0">
              <a:solidFill>
                <a:srgbClr val="065DD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13310" y="1740329"/>
            <a:ext cx="11340000" cy="3622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sz="21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年度目标与结</a:t>
            </a:r>
            <a:r>
              <a:rPr lang="zh-CN" sz="2100" b="1" dirty="0">
                <a:solidFill>
                  <a:srgbClr val="000000"/>
                </a:solidFill>
                <a:cs typeface="华文楷体" charset="0"/>
              </a:rPr>
              <a:t>果复盘</a:t>
            </a:r>
            <a:endParaRPr lang="zh-CN" sz="2100" dirty="0">
              <a:solidFill>
                <a:srgbClr val="000000"/>
              </a:solidFill>
              <a:cs typeface="华文楷体" charset="0"/>
            </a:endParaRPr>
          </a:p>
          <a:p>
            <a:pPr>
              <a:lnSpc>
                <a:spcPct val="150000"/>
              </a:lnSpc>
            </a:pPr>
            <a:r>
              <a:rPr lang="zh-CN" sz="2100" dirty="0">
                <a:solidFill>
                  <a:srgbClr val="000000"/>
                </a:solidFill>
                <a:cs typeface="华文楷体" charset="0"/>
              </a:rPr>
              <a:t>1）</a:t>
            </a:r>
            <a:r>
              <a:rPr lang="en-US" sz="2100" dirty="0">
                <a:solidFill>
                  <a:srgbClr val="000000"/>
                </a:solidFill>
                <a:latin typeface="仿宋" panose="02010609060101010101" charset="-122"/>
                <a:cs typeface="华文楷体" charset="0"/>
              </a:rPr>
              <a:t> </a:t>
            </a:r>
            <a:r>
              <a:rPr lang="zh-CN" sz="2100" dirty="0">
                <a:solidFill>
                  <a:srgbClr val="000000"/>
                </a:solidFill>
                <a:cs typeface="华文楷体" charset="0"/>
              </a:rPr>
              <a:t>总体目标达成情况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，定量</a:t>
            </a: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+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定性（</a:t>
            </a: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1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页）</a:t>
            </a:r>
          </a:p>
          <a:p>
            <a:pPr>
              <a:lnSpc>
                <a:spcPct val="150000"/>
              </a:lnSpc>
            </a:pP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2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）</a:t>
            </a: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  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人才与组织建设情况（</a:t>
            </a: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1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页）</a:t>
            </a:r>
            <a:endParaRPr lang="zh-CN" sz="2100" dirty="0">
              <a:solidFill>
                <a:srgbClr val="000000"/>
              </a:solidFill>
              <a:cs typeface="华文楷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3</a:t>
            </a:r>
            <a:r>
              <a:rPr lang="zh-CN" sz="2100" dirty="0">
                <a:solidFill>
                  <a:srgbClr val="000000"/>
                </a:solidFill>
                <a:cs typeface="华文楷体" charset="0"/>
              </a:rPr>
              <a:t>）</a:t>
            </a:r>
            <a:r>
              <a:rPr lang="en-US" sz="2100" dirty="0">
                <a:solidFill>
                  <a:srgbClr val="000000"/>
                </a:solidFill>
                <a:latin typeface="仿宋" panose="02010609060101010101" charset="-122"/>
                <a:cs typeface="华文楷体" charset="0"/>
              </a:rPr>
              <a:t> </a:t>
            </a:r>
            <a:r>
              <a:rPr lang="zh-CN" sz="2100" dirty="0">
                <a:solidFill>
                  <a:srgbClr val="000000"/>
                </a:solidFill>
                <a:cs typeface="华文楷体" charset="0"/>
              </a:rPr>
              <a:t>亮点：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对组织做出了哪三项主要贡献？（</a:t>
            </a: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1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页）</a:t>
            </a:r>
            <a:endParaRPr lang="en-US" altLang="zh-CN" sz="2100" dirty="0">
              <a:solidFill>
                <a:srgbClr val="000000"/>
              </a:solidFill>
              <a:cs typeface="华文楷体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cs typeface="华文楷体" charset="0"/>
              </a:rPr>
              <a:t>①业务管理的成果，如</a:t>
            </a:r>
            <a:r>
              <a:rPr lang="zh-CN" sz="1600" dirty="0">
                <a:solidFill>
                  <a:srgbClr val="000000"/>
                </a:solidFill>
                <a:cs typeface="华文楷体" charset="0"/>
              </a:rPr>
              <a:t>重点专项工作取得成果</a:t>
            </a:r>
            <a:r>
              <a:rPr lang="zh-CN" altLang="en-US" sz="1600" dirty="0">
                <a:solidFill>
                  <a:srgbClr val="000000"/>
                </a:solidFill>
                <a:cs typeface="华文楷体" charset="0"/>
              </a:rPr>
              <a:t>、标杆</a:t>
            </a:r>
            <a:r>
              <a:rPr lang="zh-CN" sz="1600" dirty="0">
                <a:solidFill>
                  <a:srgbClr val="000000"/>
                </a:solidFill>
                <a:cs typeface="华文楷体" charset="0"/>
              </a:rPr>
              <a:t>案例</a:t>
            </a:r>
            <a:r>
              <a:rPr lang="zh-CN" altLang="en-US" sz="1600" dirty="0">
                <a:solidFill>
                  <a:srgbClr val="000000"/>
                </a:solidFill>
                <a:cs typeface="华文楷体" charset="0"/>
              </a:rPr>
              <a:t>、重大突破等</a:t>
            </a:r>
            <a:endParaRPr lang="en-US" altLang="zh-CN" sz="1600" dirty="0">
              <a:solidFill>
                <a:srgbClr val="000000"/>
              </a:solidFill>
              <a:cs typeface="华文楷体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cs typeface="华文楷体" charset="0"/>
              </a:rPr>
              <a:t>②组织建设成果，建设了哪些新能力或提升、沉淀了什么能力？</a:t>
            </a:r>
            <a:endParaRPr lang="en-US" altLang="zh-CN" sz="1600" dirty="0">
              <a:solidFill>
                <a:srgbClr val="000000"/>
              </a:solidFill>
              <a:cs typeface="华文楷体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cs typeface="华文楷体" charset="0"/>
              </a:rPr>
              <a:t>③团队建设的成果，搭建或引入、培养与汰换的情况</a:t>
            </a:r>
            <a:endParaRPr lang="zh-CN" sz="1600" dirty="0">
              <a:solidFill>
                <a:srgbClr val="000000"/>
              </a:solidFill>
              <a:cs typeface="华文楷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4</a:t>
            </a:r>
            <a:r>
              <a:rPr lang="zh-CN" sz="2100" dirty="0">
                <a:solidFill>
                  <a:srgbClr val="000000"/>
                </a:solidFill>
                <a:cs typeface="华文楷体" charset="0"/>
              </a:rPr>
              <a:t>）</a:t>
            </a:r>
            <a:r>
              <a:rPr lang="en-US" sz="2100" dirty="0">
                <a:solidFill>
                  <a:srgbClr val="000000"/>
                </a:solidFill>
                <a:latin typeface="仿宋" panose="02010609060101010101" charset="-122"/>
                <a:cs typeface="华文楷体" charset="0"/>
              </a:rPr>
              <a:t> </a:t>
            </a:r>
            <a:r>
              <a:rPr lang="zh-CN" sz="2100" dirty="0">
                <a:solidFill>
                  <a:srgbClr val="000000"/>
                </a:solidFill>
                <a:cs typeface="华文楷体" charset="0"/>
              </a:rPr>
              <a:t>不足：结果分析和总结复盘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cs typeface="华文楷体" charset="0"/>
              </a:rPr>
              <a:t>1</a:t>
            </a:r>
            <a:r>
              <a:rPr lang="zh-CN" altLang="en-US" sz="2100" dirty="0">
                <a:solidFill>
                  <a:srgbClr val="000000"/>
                </a:solidFill>
                <a:cs typeface="华文楷体" charset="0"/>
              </a:rPr>
              <a:t>页）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5400" y="5588115"/>
            <a:ext cx="989774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1" u="sng" dirty="0">
                <a:solidFill>
                  <a:srgbClr val="000000"/>
                </a:solidFill>
                <a:ea typeface="仿宋" panose="02010609060101010101" charset="-122"/>
                <a:sym typeface="+mn-ea"/>
              </a:rPr>
              <a:t>建议</a:t>
            </a:r>
            <a:r>
              <a:rPr lang="zh-CN" altLang="en-US" sz="1800" b="1" i="1" u="sng" dirty="0">
                <a:solidFill>
                  <a:srgbClr val="000000"/>
                </a:solidFill>
                <a:ea typeface="仿宋" panose="02010609060101010101" charset="-122"/>
                <a:sym typeface="+mn-ea"/>
              </a:rPr>
              <a:t>：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  <a:sym typeface="+mn-ea"/>
              </a:rPr>
              <a:t>请聚焦总体目标与核心专项，用数据/案例/事实清晰展现量化成果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6000" y="639337"/>
            <a:ext cx="10640060" cy="87588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800" b="1" i="1" u="sng" dirty="0">
                <a:solidFill>
                  <a:srgbClr val="000000"/>
                </a:solidFill>
                <a:ea typeface="仿宋" panose="02010609060101010101" charset="-122"/>
              </a:rPr>
              <a:t>说明：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请围绕</a:t>
            </a:r>
            <a:r>
              <a:rPr lang="zh-CN" altLang="en-US" sz="1800" i="1" dirty="0">
                <a:solidFill>
                  <a:srgbClr val="000000"/>
                </a:solidFill>
                <a:ea typeface="仿宋" panose="02010609060101010101" charset="-122"/>
              </a:rPr>
              <a:t>公司</a:t>
            </a:r>
            <a:r>
              <a:rPr lang="en-US" sz="1800" i="1" dirty="0">
                <a:solidFill>
                  <a:srgbClr val="000000"/>
                </a:solidFill>
                <a:latin typeface="仿宋" panose="02010609060101010101" charset="-122"/>
              </a:rPr>
              <a:t>2</a:t>
            </a:r>
            <a:r>
              <a:rPr lang="en-US" sz="1800" i="1" dirty="0">
                <a:solidFill>
                  <a:srgbClr val="000000"/>
                </a:solidFill>
                <a:latin typeface="仿宋" panose="02010609060101010101" charset="-122"/>
                <a:cs typeface="Calibri" panose="020F0502020204030204" pitchFamily="34" charset="0"/>
              </a:rPr>
              <a:t>025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年度</a:t>
            </a:r>
            <a:r>
              <a:rPr lang="zh-CN" altLang="en-US" i="1" dirty="0">
                <a:solidFill>
                  <a:srgbClr val="000000"/>
                </a:solidFill>
                <a:ea typeface="仿宋" panose="02010609060101010101" charset="-122"/>
              </a:rPr>
              <a:t>目标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，结合所负责组织定位、工作目标</a:t>
            </a:r>
            <a:r>
              <a:rPr lang="zh-CN" altLang="en-US" sz="1800" i="1" dirty="0">
                <a:solidFill>
                  <a:srgbClr val="000000"/>
                </a:solidFill>
                <a:ea typeface="仿宋" panose="02010609060101010101" charset="-122"/>
              </a:rPr>
              <a:t>与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管理职责</a:t>
            </a:r>
            <a:r>
              <a:rPr lang="zh-CN" altLang="en-US" sz="1800" i="1" dirty="0">
                <a:solidFill>
                  <a:srgbClr val="000000"/>
                </a:solidFill>
                <a:ea typeface="仿宋" panose="02010609060101010101" charset="-122"/>
              </a:rPr>
              <a:t>，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对</a:t>
            </a:r>
            <a:r>
              <a:rPr lang="en-US" sz="1800" i="1" dirty="0">
                <a:solidFill>
                  <a:srgbClr val="000000"/>
                </a:solidFill>
                <a:latin typeface="仿宋" panose="02010609060101010101" charset="-122"/>
              </a:rPr>
              <a:t>2</a:t>
            </a:r>
            <a:r>
              <a:rPr lang="en-US" sz="1800" i="1" dirty="0">
                <a:solidFill>
                  <a:srgbClr val="000000"/>
                </a:solidFill>
                <a:latin typeface="仿宋" panose="02010609060101010101" charset="-122"/>
                <a:cs typeface="Calibri" panose="020F0502020204030204" pitchFamily="34" charset="0"/>
              </a:rPr>
              <a:t>025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年度业绩与管理职责完成情况总结复盘，分析亮点和不足。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336550" y="189230"/>
            <a:ext cx="557085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ClrTx/>
              <a:buSzTx/>
              <a:buFont typeface="Arial" panose="020B0604020202090204" pitchFamily="34" charset="0"/>
              <a:buNone/>
            </a:pPr>
            <a:r>
              <a:rPr lang="en-US" altLang="zh-CN" sz="3000" b="1" dirty="0">
                <a:solidFill>
                  <a:srgbClr val="065DD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</a:rPr>
              <a:t>02 </a:t>
            </a:r>
            <a:r>
              <a:rPr lang="en-US" altLang="zh-CN" sz="3000" b="1" dirty="0">
                <a:solidFill>
                  <a:srgbClr val="065DD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2026年重点工作计划</a:t>
            </a:r>
            <a:endParaRPr lang="en-US" altLang="zh-CN" sz="3000" b="1" dirty="0">
              <a:solidFill>
                <a:srgbClr val="065DD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6550" y="847725"/>
            <a:ext cx="115194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1800" b="1" i="1" u="sng" dirty="0">
                <a:solidFill>
                  <a:srgbClr val="000000"/>
                </a:solidFill>
                <a:ea typeface="仿宋" panose="02010609060101010101" charset="-122"/>
              </a:rPr>
              <a:t>说明：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基于经营理念和盈利能力提升要求，</a:t>
            </a:r>
            <a:r>
              <a:rPr lang="en-US" altLang="zh-CN" sz="1800" b="1" i="1" dirty="0">
                <a:solidFill>
                  <a:srgbClr val="000000"/>
                </a:solidFill>
                <a:ea typeface="仿宋" panose="02010609060101010101" charset="-122"/>
              </a:rPr>
              <a:t>2026</a:t>
            </a:r>
            <a:r>
              <a:rPr lang="zh-CN" altLang="en-US" sz="1800" b="1" i="1" dirty="0">
                <a:solidFill>
                  <a:srgbClr val="000000"/>
                </a:solidFill>
                <a:ea typeface="仿宋" panose="02010609060101010101" charset="-122"/>
              </a:rPr>
              <a:t>年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在</a:t>
            </a:r>
            <a:r>
              <a:rPr lang="zh-CN" sz="1800" b="1" i="1" u="sng" dirty="0">
                <a:solidFill>
                  <a:srgbClr val="000000"/>
                </a:solidFill>
                <a:ea typeface="仿宋" panose="02010609060101010101" charset="-122"/>
              </a:rPr>
              <a:t>业务管理、组织能力建设、团队建设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三方面的目标</a:t>
            </a:r>
            <a:r>
              <a:rPr lang="zh-CN" altLang="en-US" sz="1800" i="1" dirty="0">
                <a:solidFill>
                  <a:srgbClr val="000000"/>
                </a:solidFill>
                <a:ea typeface="仿宋" panose="02010609060101010101" charset="-122"/>
              </a:rPr>
              <a:t>、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策略与举措是什么？</a:t>
            </a:r>
            <a:r>
              <a:rPr lang="en-US" sz="1800" i="1" dirty="0">
                <a:solidFill>
                  <a:srgbClr val="000000"/>
                </a:solidFill>
                <a:latin typeface="仿宋" panose="02010609060101010101" charset="-122"/>
                <a:cs typeface="Calibri" panose="020F0502020204030204" pitchFamily="34" charset="0"/>
              </a:rPr>
              <a:t> 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</a:rPr>
              <a:t>如何保证拿结果？</a:t>
            </a:r>
            <a:endParaRPr lang="zh-CN" altLang="en-US" sz="1800" i="1" dirty="0">
              <a:solidFill>
                <a:srgbClr val="000000"/>
              </a:solidFill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67109" y="2169000"/>
            <a:ext cx="11340000" cy="10046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、业务管理策略与规划</a:t>
            </a:r>
            <a:endParaRPr lang="en-US" altLang="zh-CN" sz="2100" b="1" dirty="0">
              <a:solidFill>
                <a:srgbClr val="000000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000000"/>
                </a:solidFill>
                <a:latin typeface="微软雅黑" panose="020B0503020204020204" charset="-122"/>
                <a:cs typeface="华文楷体" charset="0"/>
              </a:rPr>
              <a:t>2</a:t>
            </a:r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cs typeface="华文楷体" charset="0"/>
              </a:rPr>
              <a:t>、组织能力与团队建设举措</a:t>
            </a:r>
            <a:endParaRPr lang="en-US" altLang="zh-CN" sz="2100" b="1" dirty="0">
              <a:solidFill>
                <a:srgbClr val="000000"/>
              </a:solidFill>
              <a:latin typeface="微软雅黑" panose="020B0503020204020204" charset="-122"/>
              <a:cs typeface="华文楷体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35400" y="4869295"/>
            <a:ext cx="9897745" cy="4603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1" u="sng" dirty="0">
                <a:solidFill>
                  <a:srgbClr val="000000"/>
                </a:solidFill>
                <a:ea typeface="仿宋" panose="02010609060101010101" charset="-122"/>
                <a:sym typeface="+mn-ea"/>
              </a:rPr>
              <a:t>建议</a:t>
            </a:r>
            <a:r>
              <a:rPr lang="zh-CN" altLang="en-US" sz="1800" b="1" i="1" u="sng" dirty="0">
                <a:solidFill>
                  <a:srgbClr val="000000"/>
                </a:solidFill>
                <a:ea typeface="仿宋" panose="02010609060101010101" charset="-122"/>
                <a:sym typeface="+mn-ea"/>
              </a:rPr>
              <a:t>：</a:t>
            </a:r>
            <a:r>
              <a:rPr lang="zh-CN" sz="1800" i="1" dirty="0">
                <a:solidFill>
                  <a:srgbClr val="000000"/>
                </a:solidFill>
                <a:ea typeface="仿宋" panose="02010609060101010101" charset="-122"/>
                <a:sym typeface="+mn-ea"/>
              </a:rPr>
              <a:t>请聚焦</a:t>
            </a:r>
            <a:r>
              <a:rPr lang="en-US" altLang="zh-CN" sz="1800" i="1" dirty="0">
                <a:solidFill>
                  <a:srgbClr val="000000"/>
                </a:solidFill>
                <a:ea typeface="仿宋" panose="02010609060101010101" charset="-122"/>
                <a:sym typeface="+mn-ea"/>
              </a:rPr>
              <a:t>2026</a:t>
            </a:r>
            <a:r>
              <a:rPr lang="zh-CN" altLang="en-US" sz="1800" i="1" dirty="0">
                <a:solidFill>
                  <a:srgbClr val="000000"/>
                </a:solidFill>
                <a:ea typeface="仿宋" panose="02010609060101010101" charset="-122"/>
                <a:sym typeface="+mn-ea"/>
              </a:rPr>
              <a:t>年的核心重点工作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EzOGYzYmUyYTc1ZDkzOTBmYTU5Y2I2OTlmYTU2M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</Words>
  <Application>Microsoft Office PowerPoint</Application>
  <PresentationFormat>宽屏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Alibaba PuHuiTi R</vt:lpstr>
      <vt:lpstr>Source Han Sans CN</vt:lpstr>
      <vt:lpstr>Source Han Sans CN Bold</vt:lpstr>
      <vt:lpstr>仿宋</vt:lpstr>
      <vt:lpstr>华文楷体</vt:lpstr>
      <vt:lpstr>思源黑体 CN Bold</vt:lpstr>
      <vt:lpstr>宋体</vt:lpstr>
      <vt:lpstr>微软雅黑</vt:lpstr>
      <vt:lpstr>Arial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候令</dc:creator>
  <cp:lastModifiedBy>Lige Zhang</cp:lastModifiedBy>
  <cp:revision>113</cp:revision>
  <dcterms:created xsi:type="dcterms:W3CDTF">2025-12-25T02:22:23Z</dcterms:created>
  <dcterms:modified xsi:type="dcterms:W3CDTF">2025-12-25T08:55:27Z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3E38BB277B6C3CDADF9F4C6979A88020_43</vt:lpwstr>
  </property>
</Properties>
</file>