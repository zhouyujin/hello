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0" r:id="rId2"/>
    <p:sldId id="261" r:id="rId3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7104063" cy="10234613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43EF"/>
    <a:srgbClr val="0B42DF"/>
    <a:srgbClr val="0B40D3"/>
    <a:srgbClr val="0C3ACF"/>
    <a:srgbClr val="0C3BD1"/>
    <a:srgbClr val="0052FF"/>
    <a:srgbClr val="F5F8FF"/>
    <a:srgbClr val="0D36CC"/>
    <a:srgbClr val="294FCF"/>
    <a:srgbClr val="006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95" d="100"/>
          <a:sy n="95" d="100"/>
        </p:scale>
        <p:origin x="330" y="90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tags" Target="tags/tag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资源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triswang/Desktop/2025ppt封面.png2025ppt封面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 l="5" r="5"/>
          <a:stretch>
            <a:fillRect/>
          </a:stretch>
        </p:blipFill>
        <p:spPr>
          <a:xfrm>
            <a:off x="0" y="0"/>
            <a:ext cx="12193200" cy="68608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 r="74229"/>
          <a:stretch>
            <a:fillRect/>
          </a:stretch>
        </p:blipFill>
        <p:spPr>
          <a:xfrm>
            <a:off x="0" y="0"/>
            <a:ext cx="314198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资源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rcRect t="96231"/>
          <a:stretch>
            <a:fillRect/>
          </a:stretch>
        </p:blipFill>
        <p:spPr>
          <a:xfrm>
            <a:off x="0" y="6599555"/>
            <a:ext cx="12192000" cy="25844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60045" y="178435"/>
            <a:ext cx="10839450" cy="490855"/>
          </a:xfrm>
        </p:spPr>
        <p:txBody>
          <a:bodyPr vert="horz" wrap="square" lIns="91440" tIns="45720" rIns="91440" bIns="45720" rtlCol="0" anchor="ctr" anchorCtr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3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思源黑体 CN Bold" panose="020B0A00000000000000" charset="-122"/>
                <a:ea typeface="思源黑体 CN Bold" panose="020B0A00000000000000" charset="-122"/>
                <a:cs typeface="+mj-cs"/>
              </a:defRPr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5" name="矩形 4"/>
          <p:cNvSpPr/>
          <p:nvPr userDrawn="1">
            <p:custDataLst>
              <p:tags r:id="rId3"/>
            </p:custDataLst>
          </p:nvPr>
        </p:nvSpPr>
        <p:spPr>
          <a:xfrm>
            <a:off x="144000" y="251143"/>
            <a:ext cx="75565" cy="317500"/>
          </a:xfrm>
          <a:prstGeom prst="rect">
            <a:avLst/>
          </a:prstGeom>
          <a:solidFill>
            <a:srgbClr val="0743E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资源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 t="96231"/>
          <a:stretch>
            <a:fillRect/>
          </a:stretch>
        </p:blipFill>
        <p:spPr>
          <a:xfrm>
            <a:off x="0" y="6599555"/>
            <a:ext cx="12192000" cy="25844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>
            <p:custDataLst>
              <p:tags r:id="rId2"/>
            </p:custDataLst>
          </p:nvPr>
        </p:nvSpPr>
        <p:spPr>
          <a:xfrm>
            <a:off x="8197215" y="6583045"/>
            <a:ext cx="370967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 lang="en-US" altLang="zh-CN" sz="1000" spc="150">
                <a:solidFill>
                  <a:schemeClr val="bg1"/>
                </a:solidFill>
                <a:uFillTx/>
                <a:latin typeface="Source Han Sans CN" panose="020B0A00000000000000" charset="-122"/>
                <a:ea typeface="Source Han Sans CN" panose="020B0A00000000000000" charset="-122"/>
                <a:cs typeface="思源黑体 CN Bold" panose="020B0A00000000000000" charset="-122"/>
                <a:sym typeface="+mn-ea"/>
              </a:rPr>
              <a:t>中国科学院孵化的人工智能企业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2.xml"/><Relationship Id="rId10" Type="http://schemas.openxmlformats.org/officeDocument/2006/relationships/tags" Target="../tags/tag3.xml"/><Relationship Id="rId11" Type="http://schemas.openxmlformats.org/officeDocument/2006/relationships/tags" Target="../tags/tag4.xml"/><Relationship Id="rId12" Type="http://schemas.openxmlformats.org/officeDocument/2006/relationships/tags" Target="../tags/tag5.xml"/><Relationship Id="rId13" Type="http://schemas.openxmlformats.org/officeDocument/2006/relationships/tags" Target="../tags/tag6.xml"/><Relationship Id="rId14" Type="http://schemas.openxmlformats.org/officeDocument/2006/relationships/tags" Target="../tags/tag7.xml"/><Relationship Id="rId15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-281940" y="770890"/>
            <a:ext cx="193040" cy="193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202020">
                  <a:lumMod val="90000"/>
                  <a:lumOff val="10000"/>
                </a:srgb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矩形 4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>
            <a:off x="-281940" y="1047750"/>
            <a:ext cx="193040" cy="193040"/>
          </a:xfrm>
          <a:prstGeom prst="rect">
            <a:avLst/>
          </a:prstGeom>
          <a:solidFill>
            <a:srgbClr val="0743EF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矩形 5"/>
          <p:cNvSpPr>
            <a:spLocks noChangeAspect="1"/>
          </p:cNvSpPr>
          <p:nvPr userDrawn="1">
            <p:custDataLst>
              <p:tags r:id="rId11"/>
            </p:custDataLst>
          </p:nvPr>
        </p:nvSpPr>
        <p:spPr>
          <a:xfrm>
            <a:off x="-281940" y="1324610"/>
            <a:ext cx="193040" cy="193040"/>
          </a:xfrm>
          <a:prstGeom prst="rect">
            <a:avLst/>
          </a:prstGeom>
          <a:solidFill>
            <a:srgbClr val="F27500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矩形 6"/>
          <p:cNvSpPr>
            <a:spLocks noChangeAspect="1"/>
          </p:cNvSpPr>
          <p:nvPr userDrawn="1">
            <p:custDataLst>
              <p:tags r:id="rId12"/>
            </p:custDataLst>
          </p:nvPr>
        </p:nvSpPr>
        <p:spPr>
          <a:xfrm>
            <a:off x="-281940" y="1601470"/>
            <a:ext cx="193040" cy="193040"/>
          </a:xfrm>
          <a:prstGeom prst="rect">
            <a:avLst/>
          </a:prstGeom>
          <a:solidFill>
            <a:srgbClr val="00AAFF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 userDrawn="1">
            <p:custDataLst>
              <p:tags r:id="rId13"/>
            </p:custDataLst>
          </p:nvPr>
        </p:nvSpPr>
        <p:spPr>
          <a:xfrm>
            <a:off x="-281940" y="1878330"/>
            <a:ext cx="193040" cy="193040"/>
          </a:xfrm>
          <a:prstGeom prst="rect">
            <a:avLst/>
          </a:prstGeom>
          <a:solidFill>
            <a:srgbClr val="FFC000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66E9F5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10" name="矩形 9"/>
          <p:cNvSpPr>
            <a:spLocks noChangeAspect="1"/>
          </p:cNvSpPr>
          <p:nvPr userDrawn="1">
            <p:custDataLst>
              <p:tags r:id="rId14"/>
            </p:custDataLst>
          </p:nvPr>
        </p:nvSpPr>
        <p:spPr>
          <a:xfrm>
            <a:off x="-281940" y="2155190"/>
            <a:ext cx="193040" cy="193040"/>
          </a:xfrm>
          <a:prstGeom prst="rect">
            <a:avLst/>
          </a:prstGeom>
          <a:solidFill>
            <a:srgbClr val="73CE54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66E9F5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15"/>
            </p:custDataLst>
          </p:nvPr>
        </p:nvSpPr>
        <p:spPr>
          <a:xfrm>
            <a:off x="-281940" y="2432050"/>
            <a:ext cx="193040" cy="193040"/>
          </a:xfrm>
          <a:prstGeom prst="rect">
            <a:avLst/>
          </a:prstGeom>
          <a:solidFill>
            <a:srgbClr val="E7E6E6"/>
          </a:solidFill>
          <a:ln w="63500">
            <a:noFill/>
          </a:ln>
        </p:spPr>
        <p:style>
          <a:lnRef idx="2">
            <a:srgbClr val="1677FF">
              <a:shade val="50000"/>
            </a:srgbClr>
          </a:lnRef>
          <a:fillRef idx="1">
            <a:srgbClr val="1677FF"/>
          </a:fillRef>
          <a:effectRef idx="0">
            <a:srgbClr val="1677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E7E6E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271032" y="194575"/>
            <a:ext cx="881189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Font typeface="Arial" panose="020B0604020202090204" pitchFamily="34" charset="0"/>
              <a:buNone/>
            </a:pPr>
            <a:r>
              <a:rPr sz="3000" b="1">
                <a:solidFill>
                  <a:srgbClr val="065DDF"/>
                </a:solidFill>
                <a:latin typeface="Source Han Sans CN Bold"/>
              </a:rPr>
              <a:t>01 2025年度工作完成情况复盘</a:t>
            </a:r>
            <a:endParaRPr lang="en-US" altLang="zh-CN" sz="3000" b="1" dirty="0">
              <a:solidFill>
                <a:srgbClr val="065DD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713310" y="1740329"/>
            <a:ext cx="11340000" cy="3622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b="1">
                <a:solidFill>
                  <a:srgbClr val="000000"/>
                </a:solidFill>
                <a:latin typeface="微软雅黑"/>
              </a:rPr>
              <a:t>目录\n1）总体目标达成情况（定量+定性）\n2）人才与组织建设情况\n3）亮点：三项主要贡献\n4）不足：结果分析与复盘</a:t>
            </a:r>
            <a:endParaRPr lang="zh-CN" sz="2100" dirty="0">
              <a:solidFill>
                <a:srgbClr val="000000"/>
              </a:solidFill>
              <a:cs typeface="华文楷体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400" y="5588115"/>
            <a:ext cx="989774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0000"/>
                </a:solidFill>
                <a:latin typeface="微软雅黑"/>
              </a:rPr>
              <a:t>聚焦核心专项：以数据/案例/事实清晰呈现“效率、质量、可复用能力”提升。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6000" y="639337"/>
            <a:ext cx="10640060" cy="87588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000000"/>
                </a:solidFill>
                <a:latin typeface="微软雅黑"/>
              </a:rPr>
              <a:t>围绕“模型评测体系搭建与优化、评测基准研发、跨团队协同支撑”三大模块，总结年度业绩与管理职责完成情况，复盘亮点与不足。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336550" y="189230"/>
            <a:ext cx="557085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ClrTx/>
              <a:buSzTx/>
              <a:buFont typeface="Arial" panose="020B0604020202090204" pitchFamily="34" charset="0"/>
              <a:buNone/>
            </a:pPr>
            <a:r>
              <a:rPr sz="3000" b="1">
                <a:solidFill>
                  <a:srgbClr val="065DDF"/>
                </a:solidFill>
                <a:latin typeface="Source Han Sans CN Bold"/>
              </a:rPr>
              <a:t>总体目标达成情况（定量+定性）</a:t>
            </a:r>
            <a:endParaRPr lang="en-US" altLang="zh-CN" sz="3000" b="1" dirty="0">
              <a:solidFill>
                <a:srgbClr val="065DDF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6550" y="847725"/>
            <a:ext cx="115194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</a:rPr>
              <a:t>总体目标：支撑主线模型迭代与对标评测，以标准化评测流程提升效率与结论可信度。</a:t>
            </a:r>
            <a:endParaRPr lang="zh-CN" altLang="en-US" sz="1800" i="1" dirty="0">
              <a:solidFill>
                <a:srgbClr val="000000"/>
              </a:solidFill>
              <a:ea typeface="仿宋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67109" y="2169000"/>
            <a:ext cx="11340000" cy="10046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b="1">
                <a:solidFill>
                  <a:srgbClr val="000000"/>
                </a:solidFill>
                <a:latin typeface="微软雅黑"/>
              </a:rPr>
              <a:t>定量成果\n- 累计完成超100个模型评测（文本+多模态）\n- 集成18个文本评测基准（12科学推理/4数学/3长文/1指令遵循）\n- 科学推理类评测周期：7天 → 30小时\n- 多类型榜单评测：从至少4人协作 → 1人集中落地\n- 多模态评测从0到1：复用VLMEvalKit，研发13个多模态榜单\n\n定性成果\n- 构建覆盖文本/多模态、基础/强化训练模型的全链条评测能力\n- 输出多批关键评测结论，为模型迭代与对标提供核心数据支撑\n- 推动评测环境多场地迁移落地，保障评测连续性与协同效率</a:t>
            </a:r>
            <a:endParaRPr lang="en-US" altLang="zh-CN" sz="2100" b="1" dirty="0">
              <a:solidFill>
                <a:srgbClr val="000000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35400" y="4869295"/>
            <a:ext cx="9897745" cy="4603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0000"/>
                </a:solidFill>
                <a:latin typeface="微软雅黑"/>
              </a:rPr>
              <a:t>结果导向：用统一口径与可复用流程，保障“快出结论、可复现、可对比”。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1032" y="194575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65DDF"/>
                </a:solidFill>
                <a:latin typeface="Source Han Sans CN Bold"/>
              </a:rPr>
              <a:t>人才与组织建设情况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6000" y="639337"/>
            <a:ext cx="10640060" cy="875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</a:rPr>
              <a:t>组织能力沉淀：标准化、可复用、可共享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310" y="1400000"/>
            <a:ext cx="11340000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评测流程标准化：形成可复用的评测流程与操作规范，降低上手与协同成本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评测底座复用：复用EvalScope/VLMEvalKit两大框架，完成环境适配、源码整理与说明文档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跨团队协同：与榜单同事/模型组对齐口径与答案验证方式，保障评测结论一致与可复现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资源与环境建设：推进评测环境迁移与资源同步，提升评测吞吐与稳定性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400" y="5588115"/>
            <a:ext cx="989774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微软雅黑"/>
              </a:rPr>
              <a:t>组织产出以“流程+工具+文档”三件套沉淀，支撑后续规模化评测与自动化演进。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1032" y="194575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65DDF"/>
                </a:solidFill>
                <a:latin typeface="Source Han Sans CN Bold"/>
              </a:rPr>
              <a:t>亮点：对组织的三项主要贡献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6000" y="639337"/>
            <a:ext cx="10640060" cy="875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</a:rPr>
              <a:t>业务管理 / 组织建设 / 团队建设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310" y="1400000"/>
            <a:ext cx="11340000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① 业务管理成果：完成主线与竞品模型的性能摸底与横向对比，持续输出关键评测结论，支撑模型迭代决策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② 组织建设成果：评测体系一体化（统一口径+流程优化），文本评测基准集中管理；多模态评测从0到1体系化落地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③ 团队建设成果：将多类型榜单评测集中落地，显著降低多人协作成本；推动知识与经验沉淀（代码/文档/规范），便于团队复用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400" y="5588115"/>
            <a:ext cx="989774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微软雅黑"/>
              </a:rPr>
              <a:t>关键突破：效率提升（7天→30小时）+ 能力拓展（多模态13榜单）+ 协作降本（多人→单人集中）。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1032" y="194575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65DDF"/>
                </a:solidFill>
                <a:latin typeface="Source Han Sans CN Bold"/>
              </a:rPr>
              <a:t>不足：结果分析与总结复盘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6000" y="639337"/>
            <a:ext cx="10640060" cy="875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</a:rPr>
              <a:t>问题聚焦：新基准预研不足 → 集成延迟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310" y="1400000"/>
            <a:ext cx="11340000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问题：科学文献类基准开发中，对评测维度调研不够深入；测试阶段发现短板——相似度计算不支持多模型并行评测，且维度不足以体现“科研创新Idea生成”能力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影响：适配难点预判不足，导致该基准未能及时集成到整体评测体系，影响推进效率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根因：技术细节预研不足（框架能力边界、评测指标设计、适配成本评估）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改进：面对新框架/新领域，提前拆解核心难点与验证路径；先做小样本PoC与可行性验证，再规模化集成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400" y="5588115"/>
            <a:ext cx="989774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微软雅黑"/>
              </a:rPr>
              <a:t>启示：技术预研是效率杠杆；“先验证关键假设，再投入工程化”可显著降低返工与延期风险。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1032" y="194575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65DDF"/>
                </a:solidFill>
                <a:latin typeface="Source Han Sans CN Bold"/>
              </a:rPr>
              <a:t>02 2026年重点工作计划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6000" y="639337"/>
            <a:ext cx="10640060" cy="875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</a:rPr>
              <a:t>面向经营与效率：聚焦评测底座自动化、体系化与影响力输出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310" y="1400000"/>
            <a:ext cx="11340000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总体方向：多模态评测优化 + 自动化流水线搭建 + 跨团队核心项目深度参与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目标牵引：提升评测效率/稳定性/可复现性，持续为模型迭代提供高质量结论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产出规划：评测平台与知识沉淀（工具/规范/文档） + 知识产权（专利1-2篇）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400" y="5588115"/>
            <a:ext cx="989774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微软雅黑"/>
              </a:rPr>
              <a:t>建议：聚焦2026年核心重点工作，明确里程碑与责任人，保障“拿结果”。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1032" y="194575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65DDF"/>
                </a:solidFill>
                <a:latin typeface="Source Han Sans CN Bold"/>
              </a:rPr>
              <a:t>2026｜业务管理策略与规划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6000" y="639337"/>
            <a:ext cx="10640060" cy="875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</a:rPr>
              <a:t>策略：统一底座 + 自动化流水线 + 结论可追溯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310" y="1400000"/>
            <a:ext cx="11340000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评测流水线自动化：评测任务编排、资源调度、结果汇总与可视化，减少人工重复操作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统一评测底座：整合文本与多模态评测能力，形成统一口径、统一产物与版本化管理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质量保障机制：指标计算逻辑校准、回归验证与基准版本冻结，提升结论可信度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交付节奏：按“月度里程碑+重点模型/榜单清单”推进，确保关键节点稳定交付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1032" y="194575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65DDF"/>
                </a:solidFill>
                <a:latin typeface="Source Han Sans CN Bold"/>
              </a:rPr>
              <a:t>2026｜组织能力与团队建设举措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6000" y="639337"/>
            <a:ext cx="10640060" cy="875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</a:rPr>
              <a:t>举措：知识库沉淀 + 最佳实践复用 + 协同提效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310" y="1400000"/>
            <a:ext cx="11340000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建立开源框架技术知识库：系统沉淀适配难点、解决方案与最佳实践，团队共享复用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标准化资产建设：评测操作手册、故障排查SOP、评测报告模板与复现实验脚本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跨团队协同机制：与模型/数据/平台侧对齐接口与口径，减少“返工与口径不一致”</a:t>
            </a:r>
          </a:p>
          <a:p>
            <a:pPr/>
            <a:r>
              <a:rPr sz="1600" b="0">
                <a:solidFill>
                  <a:srgbClr val="000000"/>
                </a:solidFill>
                <a:latin typeface="微软雅黑"/>
              </a:rPr>
              <a:t>个人成长与影响力：持续提升AI领域技术深度，参与核心项目攻关；输出专利1-2篇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EzOGYzYmUyYTc1ZDkzOTBmYTU5Y2I2OTlmYTU2MT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251</Words>
  <Application>Microsoft Office PowerPoint</Application>
  <PresentationFormat>宽屏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Alibaba PuHuiTi R</vt:lpstr>
      <vt:lpstr>Source Han Sans CN</vt:lpstr>
      <vt:lpstr>Source Han Sans CN Bold</vt:lpstr>
      <vt:lpstr>仿宋</vt:lpstr>
      <vt:lpstr>华文楷体</vt:lpstr>
      <vt:lpstr>思源黑体 CN Bold</vt:lpstr>
      <vt:lpstr>宋体</vt:lpstr>
      <vt:lpstr>微软雅黑</vt:lpstr>
      <vt:lpstr>Arial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候令</dc:creator>
  <cp:lastModifiedBy>Lige Zhang</cp:lastModifiedBy>
  <cp:revision>113</cp:revision>
  <dcterms:created xsi:type="dcterms:W3CDTF">2025-12-25T02:22:23Z</dcterms:created>
  <dcterms:modified xsi:type="dcterms:W3CDTF">2025-12-25T08:55:27Z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3E38BB277B6C3CDADF9F4C6979A88020_43</vt:lpwstr>
  </property>
</Properties>
</file>